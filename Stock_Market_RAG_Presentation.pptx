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 rot="5400000">
            <a:off x="8686800" y="457200"/>
            <a:ext cx="3200400" cy="5943600"/>
          </a:xfrm>
          <a:prstGeom prst="triangle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9144000" cy="1645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4000" b="1">
                <a:solidFill>
                  <a:srgbClr val="F8FAFC"/>
                </a:solidFill>
                <a:latin typeface="Trebuchet MS"/>
              </a:defRPr>
            </a:pPr>
            <a:r>
              <a:t>SMART STOCK MARKET ANALYSIS</a:t>
            </a:r>
            <a:br/>
            <a:r>
              <a:t>&amp; RISK EVALUATION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9144000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800" b="0">
                <a:solidFill>
                  <a:srgbClr val="14E9C0"/>
                </a:solidFill>
                <a:latin typeface="Calibri"/>
              </a:defRPr>
            </a:pPr>
            <a:r>
              <a:t>An AI-Powered Semantic RAG Pipeline &amp; Machine Learning Prediction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480560"/>
            <a:ext cx="4572000" cy="45720"/>
          </a:xfrm>
          <a:prstGeom prst="rect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846320"/>
            <a:ext cx="73152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1">
                <a:solidFill>
                  <a:srgbClr val="94A3B8"/>
                </a:solidFill>
                <a:latin typeface="Calibri"/>
              </a:defRPr>
            </a:pPr>
            <a:r>
              <a:t>DEVELOPED BY: SE25MAID035 | SE25MAID014 | SE25MAID016 | SE25MAID021</a:t>
            </a:r>
            <a:br/>
            <a:r>
              <a:t>DEPARTMENT OF DATA SCIENCE &amp;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1">
                <a:solidFill>
                  <a:srgbClr val="14E9C0"/>
                </a:solidFill>
                <a:latin typeface="Trebuchet MS"/>
              </a:defRPr>
            </a:pPr>
            <a:r>
              <a:t>STOCK MARKET RAG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17352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The Core Problem: Standard vs. Semantic Screening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5120640" cy="4389120"/>
          </a:xfrm>
          <a:prstGeom prst="roundRect">
            <a:avLst/>
          </a:prstGeom>
          <a:solidFill>
            <a:srgbClr val="2D1B1E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480560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Trebuchet MS"/>
              </a:defRPr>
            </a:pPr>
            <a:r>
              <a:t>TRADITIONAL STOCK SCREENERS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4480560" cy="2926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400" b="0">
                <a:solidFill>
                  <a:srgbClr val="F8FAFC"/>
                </a:solidFill>
                <a:latin typeface="Calibri"/>
              </a:defRPr>
            </a:pPr>
            <a:r>
              <a:t>• Rigid filters (only PE &lt; 15, Close Price, Sector).</a:t>
            </a:r>
            <a:br/>
            <a:r>
              <a:t>• No semantic understanding: Searching for 'safe dividend banking stock with long-term growth' fails to execute.</a:t>
            </a:r>
            <a:br/>
            <a:r>
              <a:t>• Pure keyword matching ignores context, intent, and company sentiment.</a:t>
            </a:r>
            <a:br/>
            <a:r>
              <a:t>• Demands excessive technical stock-market jargon from retail investors.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82512" y="1645920"/>
            <a:ext cx="5120640" cy="4389120"/>
          </a:xfrm>
          <a:prstGeom prst="roundRect">
            <a:avLst/>
          </a:prstGeom>
          <a:solidFill>
            <a:srgbClr val="102C25"/>
          </a:solidFill>
          <a:ln w="12700">
            <a:solidFill>
              <a:srgbClr val="14E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02552" y="1920240"/>
            <a:ext cx="4480560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800" b="1">
                <a:solidFill>
                  <a:srgbClr val="14E9C0"/>
                </a:solidFill>
                <a:latin typeface="Trebuchet MS"/>
              </a:defRPr>
            </a:pPr>
            <a:r>
              <a:t>OUR RETRIEVAL-AUGMENTED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2552" y="2560320"/>
            <a:ext cx="4480560" cy="2926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400" b="0">
                <a:solidFill>
                  <a:srgbClr val="F8FAFC"/>
                </a:solidFill>
                <a:latin typeface="Calibri"/>
              </a:defRPr>
            </a:pPr>
            <a:r>
              <a:t>• Intent Recognition: Automatically maps natural query parameters to numeric features &amp; labels.</a:t>
            </a:r>
            <a:br/>
            <a:r>
              <a:t>• Context-Aware Embeddings: Employs FinBERT and sentence transformers to evaluate company descriptions.</a:t>
            </a:r>
            <a:br/>
            <a:r>
              <a:t>• Grounded Insights: Enriches retrieval with risk scores, sentiment weights, and performance forecasts.</a:t>
            </a:r>
            <a:br/>
            <a:r>
              <a:t>• Conversational Access: Empowers any investor to chat directly with market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1">
                <a:solidFill>
                  <a:srgbClr val="14E9C0"/>
                </a:solidFill>
                <a:latin typeface="Trebuchet MS"/>
              </a:defRPr>
            </a:pPr>
            <a:r>
              <a:t>STOCK MARKET RAG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17352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System Architecture: End-to-End Execution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1938528" cy="365760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194560"/>
            <a:ext cx="365760" cy="365760"/>
          </a:xfrm>
          <a:prstGeom prst="ellipse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8FAFC"/>
                </a:solidFill>
                <a:latin typeface="Trebuchet M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1572768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200" b="1">
                <a:solidFill>
                  <a:srgbClr val="F8FAFC"/>
                </a:solidFill>
                <a:latin typeface="Trebuchet MS"/>
              </a:defRPr>
            </a:pPr>
            <a:r>
              <a:t>1. USER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1572768" cy="18288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Natural language investment query is sent to system.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0048" y="3657600"/>
            <a:ext cx="182880" cy="22860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011680"/>
            <a:ext cx="1938528" cy="365760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81528" y="2194560"/>
            <a:ext cx="365760" cy="365760"/>
          </a:xfrm>
          <a:prstGeom prst="ellipse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8FAFC"/>
                </a:solidFill>
                <a:latin typeface="Trebuchet M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2834640"/>
            <a:ext cx="1572768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200" b="1">
                <a:solidFill>
                  <a:srgbClr val="F8FAFC"/>
                </a:solidFill>
                <a:latin typeface="Trebuchet MS"/>
              </a:defRPr>
            </a:pPr>
            <a:r>
              <a:t>2. ENCODER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3474720"/>
            <a:ext cx="1572768" cy="18288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Query converted to vector space using FinBERT embeddings.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82896" y="3657600"/>
            <a:ext cx="182880" cy="22860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2011680"/>
            <a:ext cx="1938528" cy="365760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94376" y="2194560"/>
            <a:ext cx="365760" cy="365760"/>
          </a:xfrm>
          <a:prstGeom prst="ellipse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8FAFC"/>
                </a:solidFill>
                <a:latin typeface="Trebuchet M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94376" y="2834640"/>
            <a:ext cx="1572768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200" b="1">
                <a:solidFill>
                  <a:srgbClr val="F8FAFC"/>
                </a:solidFill>
                <a:latin typeface="Trebuchet MS"/>
              </a:defRPr>
            </a:pPr>
            <a:r>
              <a:t>3. CO-SIM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94376" y="3474720"/>
            <a:ext cx="1572768" cy="18288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Cosine similarity search against vector index (`pkl` DB).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95744" y="3657600"/>
            <a:ext cx="182880" cy="22860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24344" y="2011680"/>
            <a:ext cx="1938528" cy="365760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14E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07224" y="2194560"/>
            <a:ext cx="365760" cy="365760"/>
          </a:xfrm>
          <a:prstGeom prst="ellipse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8FAFC"/>
                </a:solidFill>
                <a:latin typeface="Trebuchet M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7224" y="2834640"/>
            <a:ext cx="1572768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200" b="1">
                <a:solidFill>
                  <a:srgbClr val="14E9C0"/>
                </a:solidFill>
                <a:latin typeface="Trebuchet MS"/>
              </a:defRPr>
            </a:pPr>
            <a:r>
              <a:t>4. RAG RETRIEVAL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7224" y="3474720"/>
            <a:ext cx="1572768" cy="18288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Top-K stocks matched with metadata, risk levels, and news.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308592" y="3657600"/>
            <a:ext cx="182880" cy="22860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37192" y="2011680"/>
            <a:ext cx="1938528" cy="365760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20072" y="2194560"/>
            <a:ext cx="365760" cy="365760"/>
          </a:xfrm>
          <a:prstGeom prst="ellipse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8FAFC"/>
                </a:solidFill>
                <a:latin typeface="Trebuchet M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0072" y="2834640"/>
            <a:ext cx="1572768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200" b="1">
                <a:solidFill>
                  <a:srgbClr val="F8FAFC"/>
                </a:solidFill>
                <a:latin typeface="Trebuchet MS"/>
              </a:defRPr>
            </a:pPr>
            <a:r>
              <a:t>5. 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20072" y="3474720"/>
            <a:ext cx="1572768" cy="18288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Visual recommendations and ML price forecasts rendered.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1">
                <a:solidFill>
                  <a:srgbClr val="14E9C0"/>
                </a:solidFill>
                <a:latin typeface="Trebuchet MS"/>
              </a:defRPr>
            </a:pPr>
            <a:r>
              <a:t>STOCK MARKET RAG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17352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Financial RAG: Semantic Stock Mapping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10817352" cy="4389120"/>
          </a:xfrm>
          <a:prstGeom prst="roundRect">
            <a:avLst/>
          </a:prstGeom>
          <a:solidFill>
            <a:srgbClr val="172A45"/>
          </a:solidFill>
          <a:ln w="19050">
            <a:solidFill>
              <a:srgbClr val="14E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828800"/>
            <a:ext cx="164592" cy="164592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1828800"/>
            <a:ext cx="164592" cy="164592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63040" y="1828800"/>
            <a:ext cx="164592" cy="164592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94560"/>
            <a:ext cx="1008583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94A3B8"/>
                </a:solidFill>
                <a:latin typeface="Consolas"/>
              </a:rPr>
              <a:t>investor@stockrag:~$ </a:t>
            </a:r>
            <a:r>
              <a:rPr b="0" sz="1300">
                <a:solidFill>
                  <a:srgbClr val="F8FAFC"/>
                </a:solidFill>
                <a:latin typeface="Consolas"/>
              </a:rPr>
              <a:t>python stock_retrieval.py --mode query --query "safe long-term tech stocks"</a:t>
            </a:r>
          </a:p>
          <a:p>
            <a:r>
              <a:rPr b="1" sz="1300">
                <a:solidFill>
                  <a:srgbClr val="14E9C0"/>
                </a:solidFill>
                <a:latin typeface="Consolas"/>
              </a:rPr>
              <a:t>[INFO] </a:t>
            </a:r>
            <a:r>
              <a:rPr b="0" sz="1300">
                <a:solidFill>
                  <a:srgbClr val="94A3B8"/>
                </a:solidFill>
                <a:latin typeface="Consolas"/>
              </a:rPr>
              <a:t>Initializing SentenceTransformer/FinBERT model encoder...</a:t>
            </a:r>
          </a:p>
          <a:p>
            <a:r>
              <a:rPr b="1" sz="1300">
                <a:solidFill>
                  <a:srgbClr val="14E9C0"/>
                </a:solidFill>
                <a:latin typeface="Consolas"/>
              </a:rPr>
              <a:t>[INFO] </a:t>
            </a:r>
            <a:r>
              <a:rPr b="0" sz="1300">
                <a:solidFill>
                  <a:srgbClr val="94A3B8"/>
                </a:solidFill>
                <a:latin typeface="Consolas"/>
              </a:rPr>
              <a:t>Computing similarity index lookup in data/stock_index.pkl...</a:t>
            </a:r>
          </a:p>
          <a:p>
            <a:r>
              <a:rPr b="1" sz="1300">
                <a:solidFill>
                  <a:srgbClr val="14E9C0"/>
                </a:solidFill>
                <a:latin typeface="Consolas"/>
              </a:rPr>
              <a:t>[SUCCESS] </a:t>
            </a:r>
            <a:r>
              <a:rPr b="0" sz="1300">
                <a:solidFill>
                  <a:srgbClr val="14E9C0"/>
                </a:solidFill>
                <a:latin typeface="Consolas"/>
              </a:rPr>
              <a:t>Retrieved Top-1 relevant match with cosine score 0.9123:</a:t>
            </a:r>
          </a:p>
          <a:p>
            <a:r>
              <a:rPr b="1" sz="1300">
                <a:solidFill>
                  <a:srgbClr val="14E9C0"/>
                </a:solidFill>
                <a:latin typeface="Consolas"/>
              </a:rPr>
              <a:t>
</a:t>
            </a:r>
            <a:r>
              <a:rPr b="0" sz="1300">
                <a:solidFill>
                  <a:srgbClr val="F8FAFC"/>
                </a:solidFill>
                <a:latin typeface="Consolas"/>
              </a:rPr>
              <a:t/>
            </a:r>
          </a:p>
          <a:p>
            <a:r>
              <a:rPr b="1" sz="1300">
                <a:solidFill>
                  <a:srgbClr val="14E9C0"/>
                </a:solidFill>
                <a:latin typeface="Consolas"/>
              </a:rPr>
              <a:t>Rank 1: </a:t>
            </a:r>
            <a:r>
              <a:rPr b="1" sz="1300">
                <a:solidFill>
                  <a:srgbClr val="F8FAFC"/>
                </a:solidFill>
                <a:latin typeface="Consolas"/>
              </a:rPr>
              <a:t>INFOSYS (TICKER: INFY) | Similarity Score: 0.9123</a:t>
            </a:r>
          </a:p>
          <a:p>
            <a:r>
              <a:rPr b="1" sz="1300">
                <a:solidFill>
                  <a:srgbClr val="14E9C0"/>
                </a:solidFill>
                <a:latin typeface="Consolas"/>
              </a:rPr>
              <a:t>   ├─ Sector:      </a:t>
            </a:r>
            <a:r>
              <a:rPr b="0" sz="1300">
                <a:solidFill>
                  <a:srgbClr val="14E9C0"/>
                </a:solidFill>
                <a:latin typeface="Consolas"/>
              </a:rPr>
              <a:t>Technology</a:t>
            </a:r>
          </a:p>
          <a:p>
            <a:r>
              <a:rPr b="1" sz="1300">
                <a:solidFill>
                  <a:srgbClr val="14E9C0"/>
                </a:solidFill>
                <a:latin typeface="Consolas"/>
              </a:rPr>
              <a:t>   ├─ Risk Level:  </a:t>
            </a:r>
            <a:r>
              <a:rPr b="0" sz="1300">
                <a:solidFill>
                  <a:srgbClr val="14E9C0"/>
                </a:solidFill>
                <a:latin typeface="Consolas"/>
              </a:rPr>
              <a:t>Low Risk</a:t>
            </a:r>
          </a:p>
          <a:p>
            <a:r>
              <a:rPr b="1" sz="1300">
                <a:solidFill>
                  <a:srgbClr val="14E9C0"/>
                </a:solidFill>
                <a:latin typeface="Consolas"/>
              </a:rPr>
              <a:t>   ├─ Current Close: </a:t>
            </a:r>
            <a:r>
              <a:rPr b="0" sz="1300">
                <a:solidFill>
                  <a:srgbClr val="14E9C0"/>
                </a:solidFill>
                <a:latin typeface="Consolas"/>
              </a:rPr>
              <a:t>₹1540.20</a:t>
            </a:r>
          </a:p>
          <a:p>
            <a:r>
              <a:rPr b="1" sz="1300">
                <a:solidFill>
                  <a:srgbClr val="14E9C0"/>
                </a:solidFill>
                <a:latin typeface="Consolas"/>
              </a:rPr>
              <a:t>   └─ Context:     </a:t>
            </a:r>
            <a:r>
              <a:rPr b="0" sz="1300">
                <a:solidFill>
                  <a:srgbClr val="F59E0B"/>
                </a:solidFill>
                <a:latin typeface="Consolas"/>
              </a:rPr>
              <a:t>Technology company with positive returns, stable growth, and moderate PE ratio.</a:t>
            </a:r>
          </a:p>
          <a:p>
            <a:r>
              <a:rPr b="1" sz="1300">
                <a:solidFill>
                  <a:srgbClr val="14E9C0"/>
                </a:solidFill>
                <a:latin typeface="Consolas"/>
              </a:rPr>
              <a:t>
</a:t>
            </a:r>
            <a:r>
              <a:rPr b="0" sz="1300">
                <a:solidFill>
                  <a:srgbClr val="F8FAFC"/>
                </a:solidFill>
                <a:latin typeface="Consolas"/>
              </a:rPr>
              <a:t/>
            </a:r>
          </a:p>
          <a:p>
            <a:r>
              <a:rPr b="1" sz="1300">
                <a:solidFill>
                  <a:srgbClr val="94A3B8"/>
                </a:solidFill>
                <a:latin typeface="Consolas"/>
              </a:rPr>
              <a:t>investor@stockrag:~$ </a:t>
            </a:r>
            <a:r>
              <a:rPr b="0" sz="1300">
                <a:solidFill>
                  <a:srgbClr val="F8FAFC"/>
                </a:solidFill>
                <a:latin typeface="Consolas"/>
              </a:rPr>
              <a:t>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1">
                <a:solidFill>
                  <a:srgbClr val="14E9C0"/>
                </a:solidFill>
                <a:latin typeface="Trebuchet MS"/>
              </a:defRPr>
            </a:pPr>
            <a:r>
              <a:t>STOCK MARKET RAG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17352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Predictive Modeling: Baseline vs. Advanced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17352" cy="5486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Evaluating predictions of future stock closes. Baseline (Linear Regression) significantly outperformed the Advanced (XGBoost/Neural Network) configurations due to the linear features of the dataset.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03120"/>
          <a:ext cx="1081735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688336"/>
                <a:gridCol w="2688336"/>
                <a:gridCol w="2697480"/>
              </a:tblGrid>
              <a:tr h="5791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14E9C0"/>
                          </a:solidFill>
                          <a:latin typeface="Trebuchet MS"/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14E9C0"/>
                          </a:solidFill>
                          <a:latin typeface="Trebuchet MS"/>
                        </a:defRPr>
                      </a:pPr>
                      <a:r>
                        <a:t>Baseline (Linear Regression)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14E9C0"/>
                          </a:solidFill>
                          <a:latin typeface="Trebuchet MS"/>
                        </a:defRPr>
                      </a:pPr>
                      <a:r>
                        <a:t>Advanced (XGBoost/NN)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14E9C0"/>
                          </a:solidFill>
                          <a:latin typeface="Trebuchet MS"/>
                        </a:defRPr>
                      </a:pPr>
                      <a:r>
                        <a:t>Performance Winner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Mean Absolute Error (MAE)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1.5318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136.3857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4E9C0"/>
                          </a:solidFill>
                          <a:latin typeface="Calibri"/>
                        </a:defRPr>
                      </a:pPr>
                      <a:r>
                        <a:t>Baseline (+98.8%)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Mean Squared Error (MSE)</a:t>
                      </a:r>
                    </a:p>
                  </a:txBody>
                  <a:tcPr>
                    <a:solidFill>
                      <a:srgbClr val="12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3.7425</a:t>
                      </a:r>
                    </a:p>
                  </a:txBody>
                  <a:tcPr>
                    <a:solidFill>
                      <a:srgbClr val="12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22,804.59</a:t>
                      </a:r>
                    </a:p>
                  </a:txBody>
                  <a:tcPr>
                    <a:solidFill>
                      <a:srgbClr val="12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4E9C0"/>
                          </a:solidFill>
                          <a:latin typeface="Calibri"/>
                        </a:defRPr>
                      </a:pPr>
                      <a:r>
                        <a:t>Baseline (+99.9%)</a:t>
                      </a:r>
                    </a:p>
                  </a:txBody>
                  <a:tcPr>
                    <a:solidFill>
                      <a:srgbClr val="121E31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Root Mean Squared Error (RMSE)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1.9345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151.0119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4E9C0"/>
                          </a:solidFill>
                          <a:latin typeface="Calibri"/>
                        </a:defRPr>
                      </a:pPr>
                      <a:r>
                        <a:t>Baseline (+98.7%)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R-Squared Score (R²)</a:t>
                      </a:r>
                    </a:p>
                  </a:txBody>
                  <a:tcPr>
                    <a:solidFill>
                      <a:srgbClr val="12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0.9991</a:t>
                      </a:r>
                    </a:p>
                  </a:txBody>
                  <a:tcPr>
                    <a:solidFill>
                      <a:srgbClr val="12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-4.4594</a:t>
                      </a:r>
                    </a:p>
                  </a:txBody>
                  <a:tcPr>
                    <a:solidFill>
                      <a:srgbClr val="12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4E9C0"/>
                          </a:solidFill>
                          <a:latin typeface="Calibri"/>
                        </a:defRPr>
                      </a:pPr>
                      <a:r>
                        <a:t>Baseline (+122.4%)</a:t>
                      </a:r>
                    </a:p>
                  </a:txBody>
                  <a:tcPr>
                    <a:solidFill>
                      <a:srgbClr val="121E31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Mean Absolute Percentage Error (MAPE)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0.13%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11.46%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4E9C0"/>
                          </a:solidFill>
                          <a:latin typeface="Calibri"/>
                        </a:defRPr>
                      </a:pPr>
                      <a:r>
                        <a:t>Baseline (+98.8%)</a:t>
                      </a:r>
                    </a:p>
                  </a:txBody>
                  <a:tcPr>
                    <a:solidFill>
                      <a:srgbClr val="172A4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5715000"/>
            <a:ext cx="10817352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💡 Insight: The Baseline model captures linear trends perfectly. XGBoost overfitted background fluctuations, yielding negative R².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1">
                <a:solidFill>
                  <a:srgbClr val="14E9C0"/>
                </a:solidFill>
                <a:latin typeface="Trebuchet MS"/>
              </a:defRPr>
            </a:pPr>
            <a:r>
              <a:t>STOCK MARKET RAG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17352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Risk Analysis &amp; Portfolio Optimization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737360"/>
            <a:ext cx="3291840" cy="4114800"/>
          </a:xfrm>
          <a:prstGeom prst="roundRect">
            <a:avLst/>
          </a:prstGeom>
          <a:solidFill>
            <a:srgbClr val="172A45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834640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500" b="1">
                <a:solidFill>
                  <a:srgbClr val="334155"/>
                </a:solidFill>
                <a:latin typeface="Trebuchet MS"/>
              </a:defRPr>
            </a:pPr>
            <a:r>
              <a:t>CONSERVATIVE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2834640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Expected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283464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25.66%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34640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Volatility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47288"/>
            <a:ext cx="283464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7.59%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2834640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Sharpe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283464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2.8543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34840"/>
            <a:ext cx="2834640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Asset Weights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36008"/>
            <a:ext cx="283464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80% Stock | 20% Cash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937760"/>
            <a:ext cx="2834640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283464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Designed for stable growth. Mitigates downside risk with a cash buffer.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1737360"/>
            <a:ext cx="3291840" cy="4114800"/>
          </a:xfrm>
          <a:prstGeom prst="roundRect">
            <a:avLst/>
          </a:prstGeom>
          <a:solidFill>
            <a:srgbClr val="172A45"/>
          </a:solidFill>
          <a:ln w="19050">
            <a:solidFill>
              <a:srgbClr val="14E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2011680"/>
            <a:ext cx="2834640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500" b="1">
                <a:solidFill>
                  <a:srgbClr val="14E9C0"/>
                </a:solidFill>
                <a:latin typeface="Trebuchet MS"/>
              </a:defRPr>
            </a:pPr>
            <a:r>
              <a:t>MODERATE PROFILE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651760"/>
            <a:ext cx="2834640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Expected Return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852928"/>
            <a:ext cx="283464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28.86%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246120"/>
            <a:ext cx="2834640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Volatility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447288"/>
            <a:ext cx="283464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8.53%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840480"/>
            <a:ext cx="2834640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Sharpe Ratio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041648"/>
            <a:ext cx="283464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3.0128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434840"/>
            <a:ext cx="2834640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Asset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636008"/>
            <a:ext cx="283464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90% Stock | 10% Cash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4937760"/>
            <a:ext cx="2834640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5029200"/>
            <a:ext cx="283464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Balanced asset allocation. Captures standard market trends with controlled risk.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1737360"/>
            <a:ext cx="3291840" cy="4114800"/>
          </a:xfrm>
          <a:prstGeom prst="roundRect">
            <a:avLst/>
          </a:prstGeom>
          <a:solidFill>
            <a:srgbClr val="172A4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2011680"/>
            <a:ext cx="2834640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AGGRESSIVE PROFILE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2651760"/>
            <a:ext cx="2834640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Expected Return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852928"/>
            <a:ext cx="283464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32.07%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3246120"/>
            <a:ext cx="2834640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Volatility Score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447288"/>
            <a:ext cx="283464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9.48%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840480"/>
            <a:ext cx="2834640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Sharpe Ratio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041648"/>
            <a:ext cx="283464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3.1714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434840"/>
            <a:ext cx="2834640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Asset Weights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636008"/>
            <a:ext cx="2834640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100% Stock Allocation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2480" y="4937760"/>
            <a:ext cx="2834640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5029200"/>
            <a:ext cx="283464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Full allocation strategy. High single-stock concentration. Best potential returns.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1">
                <a:solidFill>
                  <a:srgbClr val="14E9C0"/>
                </a:solidFill>
                <a:latin typeface="Trebuchet MS"/>
              </a:defRPr>
            </a:pPr>
            <a:r>
              <a:t>STOCK MARKET RAG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17352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Interactive StockRAG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5943600" cy="4114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5943600" cy="45720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55648"/>
            <a:ext cx="59436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1">
                <a:solidFill>
                  <a:srgbClr val="14E9C0"/>
                </a:solidFill>
                <a:latin typeface="Trebuchet MS"/>
              </a:defRPr>
            </a:pPr>
            <a:r>
              <a:t>📊 StockRAG Live Investor Portal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286000"/>
            <a:ext cx="5394960" cy="64008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377440"/>
            <a:ext cx="5029200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🔍 Search stocks semantically (e.g. high-yield energy shares)...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108960"/>
            <a:ext cx="3268980" cy="237744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4572000"/>
            <a:ext cx="365760" cy="91440"/>
          </a:xfrm>
          <a:prstGeom prst="rect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31720" y="4206240"/>
            <a:ext cx="365760" cy="91440"/>
          </a:xfrm>
          <a:prstGeom prst="rect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31720" y="4572000"/>
            <a:ext cx="365760" cy="91440"/>
          </a:xfrm>
          <a:prstGeom prst="rect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4206240"/>
            <a:ext cx="365760" cy="91440"/>
          </a:xfrm>
          <a:prstGeom prst="rect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291840"/>
            <a:ext cx="274320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900" b="1">
                <a:solidFill>
                  <a:srgbClr val="F8FAFC"/>
                </a:solidFill>
                <a:latin typeface="Calibri"/>
              </a:defRPr>
            </a:pPr>
            <a:r>
              <a:t>Historical Trend &amp; Prediction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39" y="3108960"/>
            <a:ext cx="1920240" cy="237744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291840"/>
            <a:ext cx="1645920" cy="18288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900" b="0">
                <a:solidFill>
                  <a:srgbClr val="F8FAFC"/>
                </a:solidFill>
                <a:latin typeface="Calibri"/>
              </a:defRPr>
            </a:pPr>
            <a:r>
              <a:t>RELIANCE</a:t>
            </a:r>
            <a:br/>
            <a:r>
              <a:t>Close: ₹2450</a:t>
            </a:r>
            <a:br/>
            <a:r>
              <a:t>Risk: Low</a:t>
            </a:r>
            <a:br/>
            <a:br/>
            <a:r>
              <a:t>TCS</a:t>
            </a:r>
            <a:br/>
            <a:r>
              <a:t>Close: ₹3400</a:t>
            </a:r>
            <a:br/>
            <a:r>
              <a:t>Risk: Low</a:t>
            </a:r>
            <a:br/>
            <a:br/>
            <a:r>
              <a:t>INFY</a:t>
            </a:r>
            <a:br/>
            <a:r>
              <a:t>Close: ₹1540</a:t>
            </a:r>
            <a:br/>
            <a:r>
              <a:t>Risk: 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1645920"/>
            <a:ext cx="4553712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800" b="1">
                <a:solidFill>
                  <a:srgbClr val="14E9C0"/>
                </a:solidFill>
                <a:latin typeface="Trebuchet MS"/>
              </a:defRPr>
            </a:pPr>
            <a:r>
              <a:t>DASHBOARD ARCHITECTURE</a:t>
            </a:r>
          </a:p>
        </p:txBody>
      </p:sp>
      <p:sp>
        <p:nvSpPr>
          <p:cNvPr id="20" name="Oval 19"/>
          <p:cNvSpPr/>
          <p:nvPr/>
        </p:nvSpPr>
        <p:spPr>
          <a:xfrm>
            <a:off x="6949440" y="2423160"/>
            <a:ext cx="109728" cy="109728"/>
          </a:xfrm>
          <a:prstGeom prst="ellipse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40" y="2377440"/>
            <a:ext cx="4279392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Twelve Data Live Proxy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633472"/>
            <a:ext cx="427939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Queries stock prices dynamically through local server proxy (`server.py`) to bypass CORS and hide API credentials.</a:t>
            </a:r>
          </a:p>
        </p:txBody>
      </p:sp>
      <p:sp>
        <p:nvSpPr>
          <p:cNvPr id="23" name="Oval 22"/>
          <p:cNvSpPr/>
          <p:nvPr/>
        </p:nvSpPr>
        <p:spPr>
          <a:xfrm>
            <a:off x="6949440" y="3520440"/>
            <a:ext cx="109728" cy="109728"/>
          </a:xfrm>
          <a:prstGeom prst="ellipse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3474720"/>
            <a:ext cx="4279392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Natural Language Interface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730752"/>
            <a:ext cx="427939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Users enter complex investment questions and receive instant contextual RAG answers parsed by our semantic engine.</a:t>
            </a:r>
          </a:p>
        </p:txBody>
      </p:sp>
      <p:sp>
        <p:nvSpPr>
          <p:cNvPr id="26" name="Oval 25"/>
          <p:cNvSpPr/>
          <p:nvPr/>
        </p:nvSpPr>
        <p:spPr>
          <a:xfrm>
            <a:off x="6949440" y="4617720"/>
            <a:ext cx="109728" cy="109728"/>
          </a:xfrm>
          <a:prstGeom prst="ellipse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8040" y="4572000"/>
            <a:ext cx="4279392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Responsive Layout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828032"/>
            <a:ext cx="427939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Built with lightweight HTML/CSS structure to load under 300ms. No bulky frameworks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1">
                <a:solidFill>
                  <a:srgbClr val="14E9C0"/>
                </a:solidFill>
                <a:latin typeface="Trebuchet MS"/>
              </a:defRPr>
            </a:pPr>
            <a:r>
              <a:t>STOCK MARKET RAG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17352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Ablation Study &amp; Evaluation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5120640" cy="4114800"/>
          </a:xfrm>
          <a:prstGeom prst="roundRect">
            <a:avLst/>
          </a:prstGeom>
          <a:solidFill>
            <a:srgbClr val="172A45"/>
          </a:solidFill>
          <a:ln w="19050">
            <a:solidFill>
              <a:srgbClr val="14E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48056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6000" b="1">
                <a:solidFill>
                  <a:srgbClr val="14E9C0"/>
                </a:solidFill>
                <a:latin typeface="Trebuchet MS"/>
              </a:defRPr>
            </a:pPr>
            <a:r>
              <a:t>0.90+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91840"/>
            <a:ext cx="448056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400" b="1">
                <a:solidFill>
                  <a:srgbClr val="F8FAFC"/>
                </a:solidFill>
                <a:latin typeface="Trebuchet MS"/>
              </a:defRPr>
            </a:pPr>
            <a:r>
              <a:t>RETRIEVAL RELEVANCE@5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749039"/>
            <a:ext cx="3749040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4480560" cy="1371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Measures relevance of retrieved stocks against semantic query context.</a:t>
            </a:r>
            <a:br/>
            <a:r>
              <a:t>• Increased from 0.70+ in Milestone 1 to 0.90+ using advanced embedding matching.</a:t>
            </a:r>
            <a:br/>
            <a:r>
              <a:t>• Sentence-Transformers accurately capture sector &amp; risk intent.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645920"/>
            <a:ext cx="5120640" cy="4114800"/>
          </a:xfrm>
          <a:prstGeom prst="roundRect">
            <a:avLst/>
          </a:prstGeom>
          <a:solidFill>
            <a:srgbClr val="172A4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2552" y="2011680"/>
            <a:ext cx="448056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6000" b="1">
                <a:solidFill>
                  <a:srgbClr val="F59E0B"/>
                </a:solidFill>
                <a:latin typeface="Trebuchet MS"/>
              </a:defRPr>
            </a:pPr>
            <a:r>
              <a:t>0.90+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2552" y="3291840"/>
            <a:ext cx="448056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400" b="1">
                <a:solidFill>
                  <a:srgbClr val="F8FAFC"/>
                </a:solidFill>
                <a:latin typeface="Trebuchet MS"/>
              </a:defRPr>
            </a:pPr>
            <a:r>
              <a:t>RISK CLASSIFICATION ACCURACY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68312" y="3749039"/>
            <a:ext cx="3749040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2552" y="3931920"/>
            <a:ext cx="4480560" cy="1371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Measures correct categorization of stocks into Low, Moderate, and High Risk.</a:t>
            </a:r>
            <a:br/>
            <a:r>
              <a:t>• Evaluates asset volatility metrics over the full historic training distribution.</a:t>
            </a:r>
            <a:br/>
            <a:r>
              <a:t>• Crucial step for downstream asset weights allocation inside portfolios.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000" b="1">
                <a:solidFill>
                  <a:srgbClr val="14E9C0"/>
                </a:solidFill>
                <a:latin typeface="Trebuchet MS"/>
              </a:defRPr>
            </a:pPr>
            <a:r>
              <a:t>STOCK MARKET RAG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17352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Future Scope &amp; Project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3291840" cy="365760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3291840" cy="109728"/>
          </a:xfrm>
          <a:prstGeom prst="rect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377440"/>
            <a:ext cx="457200" cy="457200"/>
          </a:xfrm>
          <a:prstGeom prst="ellipse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A192F"/>
                </a:solidFill>
                <a:latin typeface="Trebuchet MS"/>
              </a:defRPr>
            </a:pPr>
            <a: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17520"/>
            <a:ext cx="27432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300" b="1">
                <a:solidFill>
                  <a:srgbClr val="F8FAFC"/>
                </a:solidFill>
                <a:latin typeface="Trebuchet MS"/>
              </a:defRPr>
            </a:pPr>
            <a:r>
              <a:t>PHASE 1: NEWS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657600"/>
            <a:ext cx="2743200" cy="18288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Incorporate live scraped news articles. Perform sentiment analysis on headlines via FinBERT to dynamically adjust stock risk parameters based on market events.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011680"/>
            <a:ext cx="3291840" cy="365760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2011680"/>
            <a:ext cx="3291840" cy="109728"/>
          </a:xfrm>
          <a:prstGeom prst="rect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09160" y="2377440"/>
            <a:ext cx="457200" cy="457200"/>
          </a:xfrm>
          <a:prstGeom prst="ellipse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A192F"/>
                </a:solidFill>
                <a:latin typeface="Trebuchet MS"/>
              </a:defRPr>
            </a:pPr>
            <a: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017520"/>
            <a:ext cx="27432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300" b="1">
                <a:solidFill>
                  <a:srgbClr val="F8FAFC"/>
                </a:solidFill>
                <a:latin typeface="Trebuchet MS"/>
              </a:defRPr>
            </a:pPr>
            <a:r>
              <a:t>PHASE 2: LLM GENERATION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657600"/>
            <a:ext cx="2743200" cy="18288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Connect retrieval contexts to local Large Language Models (LLMs) like Llama-3 or Gemini. Generate personalized paragraphs explaining recommendations to investors.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2011680"/>
            <a:ext cx="3291840" cy="365760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2011680"/>
            <a:ext cx="3291840" cy="109728"/>
          </a:xfrm>
          <a:prstGeom prst="rect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58200" y="2377440"/>
            <a:ext cx="457200" cy="457200"/>
          </a:xfrm>
          <a:prstGeom prst="ellipse">
            <a:avLst/>
          </a:prstGeom>
          <a:solidFill>
            <a:srgbClr val="14E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A192F"/>
                </a:solidFill>
                <a:latin typeface="Trebuchet MS"/>
              </a:defRPr>
            </a:pPr>
            <a:r>
              <a:t>P3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017520"/>
            <a:ext cx="27432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300" b="1">
                <a:solidFill>
                  <a:srgbClr val="F8FAFC"/>
                </a:solidFill>
                <a:latin typeface="Trebuchet MS"/>
              </a:defRPr>
            </a:pPr>
            <a:r>
              <a:t>PHASE 3: ONE-CLICK TRADE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657600"/>
            <a:ext cx="2743200" cy="18288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Establish brokerage integrations via REST APIs to translate portfolio allocation suggestions directly into executable market trades with automated rebalancing.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0" y="-1371600"/>
            <a:ext cx="9144000" cy="9144000"/>
          </a:xfrm>
          <a:prstGeom prst="ellipse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194560" y="1371600"/>
            <a:ext cx="7772400" cy="4114800"/>
          </a:xfrm>
          <a:prstGeom prst="roundRect">
            <a:avLst/>
          </a:prstGeom>
          <a:solidFill>
            <a:srgbClr val="0A192F"/>
          </a:solidFill>
          <a:ln w="31750">
            <a:solidFill>
              <a:srgbClr val="14E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51760" y="1828800"/>
            <a:ext cx="6858000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400" b="1">
                <a:solidFill>
                  <a:srgbClr val="14E9C0"/>
                </a:solidFill>
                <a:latin typeface="Trebuchet MS"/>
              </a:defRPr>
            </a:pPr>
            <a:r>
              <a:t>PROJECT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377440"/>
            <a:ext cx="685800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300" b="0">
                <a:solidFill>
                  <a:srgbClr val="F8FAFC"/>
                </a:solidFill>
                <a:latin typeface="Calibri"/>
              </a:defRPr>
            </a:pPr>
            <a:r>
              <a:t>By replacing rigid keywords with a semantic RAG pipeline, the system unlocks natural-language investment screens. Combined with robust baseline predictors and Modern Portfolio Theory allocation models, StockRAG delivers high-integrity, risk-aware investment recommendations.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749040"/>
            <a:ext cx="1828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600" b="1">
                <a:solidFill>
                  <a:srgbClr val="14E9C0"/>
                </a:solidFill>
                <a:latin typeface="Trebuchet MS"/>
              </a:defRPr>
            </a:pPr>
            <a:r>
              <a:t>5,000</a:t>
            </a:r>
            <a:br/>
            <a:r>
              <a:t>Data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3749040"/>
            <a:ext cx="1828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600" b="1">
                <a:solidFill>
                  <a:srgbClr val="14E9C0"/>
                </a:solidFill>
                <a:latin typeface="Trebuchet MS"/>
              </a:defRPr>
            </a:pPr>
            <a:r>
              <a:t>12</a:t>
            </a:r>
            <a:br/>
            <a:r>
              <a:t>Indexed Sectors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749040"/>
            <a:ext cx="1828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600" b="1">
                <a:solidFill>
                  <a:srgbClr val="14E9C0"/>
                </a:solidFill>
                <a:latin typeface="Trebuchet MS"/>
              </a:defRPr>
            </a:pPr>
            <a:r>
              <a:t>90%+</a:t>
            </a:r>
            <a:br/>
            <a:r>
              <a:t>Ret. Relevance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754880"/>
            <a:ext cx="6858000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2000" b="1">
                <a:solidFill>
                  <a:srgbClr val="F8FAFC"/>
                </a:solidFill>
                <a:latin typeface="Trebuchet MS"/>
              </a:defRPr>
            </a:pPr>
            <a:r>
              <a:t>Thank You!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