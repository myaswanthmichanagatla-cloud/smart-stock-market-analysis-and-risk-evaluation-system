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786384.0" y="777240.0"/>
            <a:ext cx="905256.0" cy="37490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86384.0" y="1152144.0"/>
            <a:ext cx="1362456.0" cy="19110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91640.0" y="777240.0"/>
            <a:ext cx="1271016.0" cy="6309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91640.0" y="777240.0"/>
            <a:ext cx="3447288.0" cy="15544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62656.0" y="932688.0"/>
            <a:ext cx="2176272.0" cy="47548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62656.0" y="1408176.0"/>
            <a:ext cx="576072.0" cy="9418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38928.0" y="932688.0"/>
            <a:ext cx="576072.0" cy="66751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715000.0" y="1074420.0"/>
            <a:ext cx="1211580.0" cy="52578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15000.0" y="1600200.0"/>
            <a:ext cx="585216.0" cy="67665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26580.0" y="1074420.0"/>
            <a:ext cx="434340.0" cy="162306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48840.0" y="2350008.0"/>
            <a:ext cx="1389888.0" cy="7132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51560.0" y="3063240.0"/>
            <a:ext cx="1097280.0" cy="137160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38728.0" y="2350008.0"/>
            <a:ext cx="1179576.0" cy="26517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798064.0" y="2350008.0"/>
            <a:ext cx="740664.0" cy="181965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18304.0" y="2276856.0"/>
            <a:ext cx="1581912.0" cy="33832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151376.0" y="2615184.0"/>
            <a:ext cx="566928.0" cy="107899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00216.0" y="2276856.0"/>
            <a:ext cx="1060704.0" cy="4206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372100.0" y="2276856.0"/>
            <a:ext cx="928116.0" cy="199796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51560.0" y="4169664.0"/>
            <a:ext cx="1746504.0" cy="26517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798064.0" y="3694176.0"/>
            <a:ext cx="1353312.0" cy="47548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51376.0" y="3694176.0"/>
            <a:ext cx="1220724.0" cy="58064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372100.0" y="3895344.0"/>
            <a:ext cx="1266444.0" cy="37947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38544.0" y="3895344.0"/>
            <a:ext cx="1508760.0" cy="3200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.0" y="2697480.0"/>
            <a:ext cx="786384.0" cy="151790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47304.0" y="2971800.0"/>
            <a:ext cx="1773936.0" cy="124358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381744.0" y="800100.0"/>
            <a:ext cx="1202436.0" cy="62636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81744.0" y="1426464.0"/>
            <a:ext cx="1888236.0" cy="69951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584180.0" y="800100.0"/>
            <a:ext cx="685800.0" cy="132588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921240.0" y="2125980.0"/>
            <a:ext cx="1348740.0" cy="84582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921240.0" y="2971800.0"/>
            <a:ext cx="1563624.0" cy="92354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1520" y="1097280"/>
            <a:ext cx="109728" cy="109728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45920" y="731520"/>
            <a:ext cx="91440" cy="9144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26080" y="137160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74336" y="768096"/>
            <a:ext cx="329184" cy="329184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29200" y="822960"/>
            <a:ext cx="219456" cy="219456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0" y="1554480"/>
            <a:ext cx="91440" cy="9144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0" y="100584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43100" y="2857500"/>
            <a:ext cx="411480" cy="41148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011680" y="2926080"/>
            <a:ext cx="274320" cy="27432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74720" y="2286000"/>
            <a:ext cx="128016" cy="128016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63440" y="2560320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17920" y="2194560"/>
            <a:ext cx="164592" cy="164592"/>
          </a:xfrm>
          <a:prstGeom prst="ellipse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15200" y="2651760"/>
            <a:ext cx="91440" cy="9144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5840" y="4389120"/>
            <a:ext cx="91440" cy="9144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43200" y="4114800"/>
            <a:ext cx="109728" cy="109728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114800" y="365760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03520" y="4206240"/>
            <a:ext cx="137160" cy="137160"/>
          </a:xfrm>
          <a:prstGeom prst="ellipse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0" y="3840480"/>
            <a:ext cx="109728" cy="109728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996428" y="4064508"/>
            <a:ext cx="301752" cy="301752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46720" y="4114800"/>
            <a:ext cx="201168" cy="201168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26880" y="1371600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515600" y="731520"/>
            <a:ext cx="137160" cy="13716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98530" y="1954530"/>
            <a:ext cx="342900" cy="34290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55680" y="2011680"/>
            <a:ext cx="228600" cy="22860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875520" y="2926080"/>
            <a:ext cx="91440" cy="9144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430000" y="3840480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3474720"/>
            <a:ext cx="6583680" cy="256032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2080" y="3657600"/>
            <a:ext cx="6217920" cy="219456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0" y="3749039"/>
            <a:ext cx="6035040" cy="2011680"/>
          </a:xfrm>
          <a:prstGeom prst="rect">
            <a:avLst/>
          </a:prstGeom>
          <a:noFill/>
        </p:spPr>
        <p:txBody>
          <a:bodyPr wrap="square" tIns="91440" lIns="182880" rIns="18288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SMART STOCK MARKET ANALYSIS</a:t>
            </a:r>
            <a:br/>
            <a:r>
              <a:t>&amp; RISK EVALUATION SYSTEM</a:t>
            </a:r>
          </a:p>
          <a:p>
            <a:pPr>
              <a:spcAft>
                <a:spcPts val="1200"/>
              </a:spcAft>
              <a:defRPr sz="1100" b="1">
                <a:solidFill>
                  <a:srgbClr val="22BAFA"/>
                </a:solidFill>
                <a:latin typeface="Calibri"/>
              </a:defRPr>
            </a:pPr>
            <a:r>
              <a:t>AI-POWERED SEMANTIC RAG &amp; MACHINE LEARNING SYSTEM</a:t>
            </a:r>
          </a:p>
          <a:p>
            <a:pPr>
              <a:defRPr sz="1000">
                <a:solidFill>
                  <a:srgbClr val="C8C8C8"/>
                </a:solidFill>
                <a:latin typeface="Calibri"/>
              </a:defRPr>
            </a:pPr>
            <a:r>
              <a:t>PRESENTED BY TEAM MEMBERS:</a:t>
            </a:r>
            <a:br/>
            <a:r>
              <a:t>SE25MAID035 | SE25MAID014 | SE25MAID016 | SE25MAID021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THE FINANCIAL ANALYSIS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500">
                <a:solidFill>
                  <a:srgbClr val="EF4444"/>
                </a:solidFill>
                <a:latin typeface="Arial Black"/>
              </a:defRPr>
            </a:pPr>
            <a:r>
              <a:t>THE LEGACY LIMITATIONS</a:t>
            </a:r>
          </a:p>
          <a:p>
            <a:pPr>
              <a:spcAft>
                <a:spcPts val="1200"/>
              </a:spcAft>
              <a:defRPr sz="1200">
                <a:solidFill>
                  <a:srgbClr val="1A242B"/>
                </a:solidFill>
                <a:latin typeface="Calibri"/>
              </a:defRPr>
            </a:pPr>
            <a:r>
              <a:t>• Keyword Restrictions: Legacy screeners rely strictly on database text fields, missing semantic intent.</a:t>
            </a:r>
          </a:p>
          <a:p>
            <a:pPr>
              <a:spcAft>
                <a:spcPts val="1200"/>
              </a:spcAft>
              <a:defRPr sz="1200">
                <a:solidFill>
                  <a:srgbClr val="1A242B"/>
                </a:solidFill>
                <a:latin typeface="Calibri"/>
              </a:defRPr>
            </a:pPr>
            <a:r>
              <a:t>• Query Failure: Searching for 'high yield banking stocks with negative sentiment buffer' fails on traditional filters.</a:t>
            </a:r>
          </a:p>
          <a:p>
            <a:pPr>
              <a:spcAft>
                <a:spcPts val="1200"/>
              </a:spcAft>
              <a:defRPr sz="1200">
                <a:solidFill>
                  <a:srgbClr val="1A242B"/>
                </a:solidFill>
                <a:latin typeface="Calibri"/>
              </a:defRPr>
            </a:pPr>
            <a:r>
              <a:t>• Isolated Data silos: Technical analysis, sentiment scoring, and portfolio risk are analyzed independently.</a:t>
            </a:r>
          </a:p>
          <a:p>
            <a:pPr>
              <a:spcAft>
                <a:spcPts val="1200"/>
              </a:spcAft>
              <a:defRPr sz="1200">
                <a:solidFill>
                  <a:srgbClr val="1A242B"/>
                </a:solidFill>
                <a:latin typeface="Calibri"/>
              </a:defRPr>
            </a:pPr>
            <a:r>
              <a:t>• Predictive Gaps: Lack of real-time machine learning prediction models integrated directly within financial indexing.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500">
                <a:solidFill>
                  <a:srgbClr val="1A242B"/>
                </a:solidFill>
                <a:latin typeface="Arial Black"/>
              </a:defRPr>
            </a:pPr>
            <a:r>
              <a:t>THE StockRAG INNOVATION</a:t>
            </a:r>
          </a:p>
          <a:p>
            <a:pPr>
              <a:spcAft>
                <a:spcPts val="1200"/>
              </a:spcAft>
              <a:defRPr sz="1200">
                <a:solidFill>
                  <a:srgbClr val="1A242B"/>
                </a:solidFill>
                <a:latin typeface="Calibri"/>
              </a:defRPr>
            </a:pPr>
            <a:r>
              <a:t>• Semantic Vector Search: FinBERT/SentenceTransformers map query concepts directly to financial metadata.</a:t>
            </a:r>
          </a:p>
          <a:p>
            <a:pPr>
              <a:spcAft>
                <a:spcPts val="1200"/>
              </a:spcAft>
              <a:defRPr sz="1200">
                <a:solidFill>
                  <a:srgbClr val="1A242B"/>
                </a:solidFill>
                <a:latin typeface="Calibri"/>
              </a:defRPr>
            </a:pPr>
            <a:r>
              <a:t>• Natural Language Interface: Translates complex user investment goals into precise vector queries.</a:t>
            </a:r>
          </a:p>
          <a:p>
            <a:pPr>
              <a:spcAft>
                <a:spcPts val="1200"/>
              </a:spcAft>
              <a:defRPr sz="1200">
                <a:solidFill>
                  <a:srgbClr val="1A242B"/>
                </a:solidFill>
                <a:latin typeface="Calibri"/>
              </a:defRPr>
            </a:pPr>
            <a:r>
              <a:t>• Contextual Risk Retrieval: Combines real-time volatility calculations, expected returns, and sentiment indexes.</a:t>
            </a:r>
          </a:p>
          <a:p>
            <a:pPr>
              <a:spcAft>
                <a:spcPts val="1200"/>
              </a:spcAft>
              <a:defRPr sz="1200">
                <a:solidFill>
                  <a:srgbClr val="1A242B"/>
                </a:solidFill>
                <a:latin typeface="Calibri"/>
              </a:defRPr>
            </a:pPr>
            <a:r>
              <a:t>• Integrated Predictors: Combines baseline linear predictions and XGBoost analysis directly inside retrieval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PROJECT SCOPE &amp;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828800"/>
            <a:ext cx="3291840" cy="402336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1. SEMANTIC RAG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Design vector-based indexing of stock news and data.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Implement FinBERT/Transformers semantic embeddings.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Calculate accurate Cosine Similarity rankings.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Bridge conversational finance to raw database fields.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28800"/>
            <a:ext cx="3291840" cy="402336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2. RISK EVALUATION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Automated extraction of financial performance KPIs.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Calculate daily return, annualized volatility, and beta.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Generate risk indicators (Low, Moderate, High risk).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Perform Modern Portfolio Theory optimal allocations.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291840" cy="402336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3. INTERACTIVE UI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Establish Python-backed Twelve Data proxy server.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Build modern visual dashboard in pure HTML/JS.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Dynamic charting for stock returns and allocations.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Interactive RAG semantic query search console.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SYSTEM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286000"/>
            <a:ext cx="2377440" cy="3200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spcAft>
                <a:spcPts val="1200"/>
              </a:spcAft>
              <a:defRPr sz="1100">
                <a:solidFill>
                  <a:srgbClr val="1A242B"/>
                </a:solidFill>
                <a:latin typeface="Arial Black"/>
              </a:defRPr>
            </a:pPr>
            <a:r>
              <a:t>DATA PIPELINE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yfinance API Loader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Feature Engineering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CSV Preprocessing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286000"/>
            <a:ext cx="2377440" cy="3200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spcAft>
                <a:spcPts val="1200"/>
              </a:spcAft>
              <a:defRPr sz="1100">
                <a:solidFill>
                  <a:srgbClr val="1A242B"/>
                </a:solidFill>
                <a:latin typeface="Arial Black"/>
              </a:defRPr>
            </a:pPr>
            <a:r>
              <a:t>VECTOR &amp; EMBEDDING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FinBERT Encoding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Cosine Similarity Engine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Pickled Stock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2377440" cy="3200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spcAft>
                <a:spcPts val="1200"/>
              </a:spcAft>
              <a:defRPr sz="1100">
                <a:solidFill>
                  <a:srgbClr val="1A242B"/>
                </a:solidFill>
                <a:latin typeface="Arial Black"/>
              </a:defRPr>
            </a:pPr>
            <a:r>
              <a:t>PREDICTION SYSTEM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Baseline LR Model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XGBoost ML Model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Portfolio Optimization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286000"/>
            <a:ext cx="2377440" cy="3200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spcAft>
                <a:spcPts val="1200"/>
              </a:spcAft>
              <a:defRPr sz="1100">
                <a:solidFill>
                  <a:srgbClr val="1A242B"/>
                </a:solidFill>
                <a:latin typeface="Arial Black"/>
              </a:defRPr>
            </a:pPr>
            <a:r>
              <a:t>USER DASHBOARD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Flask API Proxy Server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Interactive Charting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• HTML/JS Client UI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3886200"/>
            <a:ext cx="365760" cy="0"/>
          </a:xfrm>
          <a:prstGeom prst="line">
            <a:avLst/>
          </a:prstGeom>
          <a:ln w="317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0" y="3886200"/>
            <a:ext cx="365760" cy="0"/>
          </a:xfrm>
          <a:prstGeom prst="line">
            <a:avLst/>
          </a:prstGeom>
          <a:ln w="317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95360" y="3886200"/>
            <a:ext cx="365760" cy="0"/>
          </a:xfrm>
          <a:prstGeom prst="line">
            <a:avLst/>
          </a:prstGeom>
          <a:ln w="317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DETAILED FINANCIAL RAG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926080"/>
            <a:ext cx="1645920" cy="914400"/>
          </a:xfrm>
          <a:prstGeom prst="ellipse">
            <a:avLst/>
          </a:prstGeom>
          <a:solidFill>
            <a:srgbClr val="222629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 QUERY</a:t>
            </a:r>
            <a:br/>
            <a:r>
              <a:t>(Natural Language)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2926080"/>
            <a:ext cx="164592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FINBERT</a:t>
            </a:r>
            <a:br/>
            <a:r>
              <a:t>TRANSFORMER</a:t>
            </a:r>
            <a:br/>
            <a:r>
              <a:t>(Generate Embedding)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26080"/>
            <a:ext cx="164592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COSINE SIMILARITY</a:t>
            </a:r>
            <a:br/>
            <a:r>
              <a:t>SEARCH</a:t>
            </a:r>
            <a:br/>
            <a:r>
              <a:t>(vs Vector Store)</a:t>
            </a:r>
          </a:p>
        </p:txBody>
      </p:sp>
      <p:sp>
        <p:nvSpPr>
          <p:cNvPr id="19" name="Diamond 18"/>
          <p:cNvSpPr/>
          <p:nvPr/>
        </p:nvSpPr>
        <p:spPr>
          <a:xfrm>
            <a:off x="6583680" y="2651760"/>
            <a:ext cx="1463040" cy="1463040"/>
          </a:xfrm>
          <a:prstGeom prst="diamond">
            <a:avLst/>
          </a:prstGeom>
          <a:solidFill>
            <a:srgbClr val="EEF2F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MATCH FOUND?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926080"/>
            <a:ext cx="164592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RETRIEVE TOP-K</a:t>
            </a:r>
            <a:br/>
            <a:r>
              <a:t>METADATA</a:t>
            </a:r>
            <a:br/>
            <a:r>
              <a:t>(PE, Sentiment, Beta)</a:t>
            </a:r>
          </a:p>
        </p:txBody>
      </p:sp>
      <p:sp>
        <p:nvSpPr>
          <p:cNvPr id="21" name="Oval 20"/>
          <p:cNvSpPr/>
          <p:nvPr/>
        </p:nvSpPr>
        <p:spPr>
          <a:xfrm>
            <a:off x="10332720" y="2926080"/>
            <a:ext cx="1371600" cy="914400"/>
          </a:xfrm>
          <a:prstGeom prst="ellipse">
            <a:avLst/>
          </a:prstGeom>
          <a:solidFill>
            <a:srgbClr val="222629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DASHBOARD SYSTEM</a:t>
            </a:r>
            <a:br/>
            <a:r>
              <a:t>RESPONSE</a:t>
            </a:r>
            <a:br/>
            <a:r>
              <a:t>(Synthesized Report)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754880"/>
            <a:ext cx="1645920" cy="7315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DEFAULT SECTOR</a:t>
            </a:r>
            <a:br/>
            <a:r>
              <a:t>BACKUP SCAN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94560" y="3383280"/>
            <a:ext cx="365760" cy="0"/>
          </a:xfrm>
          <a:prstGeom prst="line">
            <a:avLst/>
          </a:prstGeom>
          <a:ln w="190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06240" y="3383280"/>
            <a:ext cx="365760" cy="0"/>
          </a:xfrm>
          <a:prstGeom prst="line">
            <a:avLst/>
          </a:prstGeom>
          <a:ln w="190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17920" y="3383280"/>
            <a:ext cx="365760" cy="0"/>
          </a:xfrm>
          <a:prstGeom prst="line">
            <a:avLst/>
          </a:prstGeom>
          <a:ln w="190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0" y="3383280"/>
            <a:ext cx="365760" cy="0"/>
          </a:xfrm>
          <a:prstGeom prst="line">
            <a:avLst/>
          </a:prstGeom>
          <a:ln w="190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3383280"/>
            <a:ext cx="274320" cy="0"/>
          </a:xfrm>
          <a:prstGeom prst="line">
            <a:avLst/>
          </a:prstGeom>
          <a:ln w="190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4114800"/>
            <a:ext cx="0" cy="64008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38160" y="5120640"/>
            <a:ext cx="1097280" cy="0"/>
          </a:xfrm>
          <a:prstGeom prst="line">
            <a:avLst/>
          </a:prstGeom>
          <a:ln w="190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235440" y="3840480"/>
            <a:ext cx="0" cy="1280160"/>
          </a:xfrm>
          <a:prstGeom prst="line">
            <a:avLst/>
          </a:prstGeom>
          <a:ln w="1905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46720" y="3108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2062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DATA PREPROCESSING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1828800"/>
            <a:ext cx="292608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RAW DATA INGESTION</a:t>
            </a:r>
            <a:br/>
            <a:r>
              <a:t>yfinance Stock Data Extract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291840"/>
            <a:ext cx="292608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DATA CLEANING</a:t>
            </a:r>
            <a:br/>
            <a:r>
              <a:t>Forward fill, NaN pruning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754880"/>
            <a:ext cx="292608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FEATURE ENGINEERING</a:t>
            </a:r>
            <a:br/>
            <a:r>
              <a:t>40+ technical metrics (RSI, EMA)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828800"/>
            <a:ext cx="292608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SENTIMENT ANALYZER</a:t>
            </a:r>
            <a:br/>
            <a:r>
              <a:t>News classification &amp; scores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291840"/>
            <a:ext cx="292608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RISK COMPLIANCE METADATA</a:t>
            </a:r>
            <a:br/>
            <a:r>
              <a:t>Volatility, Beta, Max Drawdowns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754880"/>
            <a:ext cx="2926080" cy="9144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242B"/>
                </a:solidFill>
                <a:latin typeface="Calibri"/>
              </a:defRPr>
            </a:pPr>
            <a:r>
              <a:t>RAG INDEX CREATION</a:t>
            </a:r>
            <a:br/>
            <a:r>
              <a:t>pickle metadata (.json + .pkl)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2743200"/>
            <a:ext cx="0" cy="548640"/>
          </a:xfrm>
          <a:prstGeom prst="line">
            <a:avLst/>
          </a:prstGeom>
          <a:ln w="2540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34640" y="4206240"/>
            <a:ext cx="0" cy="548640"/>
          </a:xfrm>
          <a:prstGeom prst="line">
            <a:avLst/>
          </a:prstGeom>
          <a:ln w="2540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97680" y="5212080"/>
            <a:ext cx="1645920" cy="0"/>
          </a:xfrm>
          <a:prstGeom prst="line">
            <a:avLst/>
          </a:prstGeom>
          <a:ln w="2540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406640" y="4206240"/>
            <a:ext cx="0" cy="548640"/>
          </a:xfrm>
          <a:prstGeom prst="line">
            <a:avLst/>
          </a:prstGeom>
          <a:ln w="2540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406640" y="2743200"/>
            <a:ext cx="0" cy="548640"/>
          </a:xfrm>
          <a:prstGeom prst="line">
            <a:avLst/>
          </a:prstGeom>
          <a:ln w="25400">
            <a:solidFill>
              <a:srgbClr val="22B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SYSTEM TECHNOLOGY STACK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645920"/>
            <a:ext cx="5029200" cy="2103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MODELS &amp; EMBEDDINGS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FinBERT (Financial sentiment processing)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SentenceTransformers (All-MiniLM-L6-v2)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scikit-learn (Baseline Predictor)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XGBoost Classifier (Advanced Model)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029200" cy="2103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CORE STACK &amp; DATA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Python 3.12 (Core pipeline)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yfinance (Automatic historical market ingestion)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Pandas &amp; NumPy (Feature extraction, data structures)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Scipy (Advanced statistics &amp; VaR metrics)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5029200" cy="2103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WEB DASHBOARD &amp; PROXY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Python Flask proxy server (Local API wrapper)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HTML5 &amp; Vanilla CSS (Premium sleek UI layout)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JavaScript (Dynamic updates and async fetches)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Twelve Data API integration (External quotes)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029200" cy="2103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INDEX &amp; DEPLOYMENT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Pickle Indexing (RAG vector knowledge base)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JSON formats (Inter-process dataset exchanges)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Localhost server execution environment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PowerShell/Windows shell automated runners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DATASET &amp; RAG INDEX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645920"/>
            <a:ext cx="3291840" cy="4023360"/>
          </a:xfrm>
          <a:prstGeom prst="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spcAft>
                <a:spcPts val="1500"/>
              </a:spcAft>
              <a:defRPr sz="3600" b="1">
                <a:solidFill>
                  <a:srgbClr val="22BAFA"/>
                </a:solidFill>
                <a:latin typeface="Arial Black"/>
              </a:defRPr>
            </a:pPr>
            <a:r>
              <a:t>66,000+</a:t>
            </a:r>
          </a:p>
          <a:p>
            <a:pPr algn="ctr">
              <a:spcAft>
                <a:spcPts val="1500"/>
              </a:spcAft>
              <a:defRPr sz="1200" b="1">
                <a:solidFill>
                  <a:srgbClr val="1A242B"/>
                </a:solidFill>
                <a:latin typeface="Arial Black"/>
              </a:defRPr>
            </a:pPr>
            <a:r>
              <a:t>TOTAL DATA RECORDS</a:t>
            </a:r>
          </a:p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Historical stock prices, closing prices, and trading volume calculated across major market indexes.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45920"/>
            <a:ext cx="3291840" cy="4023360"/>
          </a:xfrm>
          <a:prstGeom prst="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spcAft>
                <a:spcPts val="1500"/>
              </a:spcAft>
              <a:defRPr sz="3600" b="1">
                <a:solidFill>
                  <a:srgbClr val="22BAFA"/>
                </a:solidFill>
                <a:latin typeface="Arial Black"/>
              </a:defRPr>
            </a:pPr>
            <a:r>
              <a:t>12+</a:t>
            </a:r>
          </a:p>
          <a:p>
            <a:pPr algn="ctr">
              <a:spcAft>
                <a:spcPts val="1500"/>
              </a:spcAft>
              <a:defRPr sz="1200" b="1">
                <a:solidFill>
                  <a:srgbClr val="1A242B"/>
                </a:solidFill>
                <a:latin typeface="Arial Black"/>
              </a:defRPr>
            </a:pPr>
            <a:r>
              <a:t>SECTORS ANALYZED</a:t>
            </a:r>
          </a:p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Broad sector diversification including Technology, Banking, Healthcare, Energy, and Financial Indexes.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291840" cy="4023360"/>
          </a:xfrm>
          <a:prstGeom prst="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spcAft>
                <a:spcPts val="1500"/>
              </a:spcAft>
              <a:defRPr sz="3600" b="1">
                <a:solidFill>
                  <a:srgbClr val="22BAFA"/>
                </a:solidFill>
                <a:latin typeface="Arial Black"/>
              </a:defRPr>
            </a:pPr>
            <a:r>
              <a:t>5,000</a:t>
            </a:r>
          </a:p>
          <a:p>
            <a:pPr algn="ctr">
              <a:spcAft>
                <a:spcPts val="1500"/>
              </a:spcAft>
              <a:defRPr sz="1200" b="1">
                <a:solidFill>
                  <a:srgbClr val="1A242B"/>
                </a:solidFill>
                <a:latin typeface="Arial Black"/>
              </a:defRPr>
            </a:pPr>
            <a:r>
              <a:t>SEMANTIC INDEX</a:t>
            </a:r>
          </a:p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Knowledge base vector representations generated using SentenceTransformers to map sentiment, risk and expected return.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SEMANTIC RAG QUERY IN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222629"/>
          </a:solidFill>
          <a:ln w="1270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StockRAG Console v1.0.2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--------------------------------------------------------------------------------</a:t>
            </a:r>
          </a:p>
          <a:p>
            <a:pPr>
              <a:spcAft>
                <a:spcPts val="400"/>
              </a:spcAft>
              <a:defRPr sz="1100" b="1">
                <a:solidFill>
                  <a:srgbClr val="22BAFA"/>
                </a:solidFill>
                <a:latin typeface="Consolas"/>
              </a:defRPr>
            </a:pPr>
            <a:r>
              <a:t>&gt;&gt;&gt; query_engine.search('Find low risk IT stocks with positive expected returns')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Searching stock index vector store using FinBERT semantic embeddings...</a:t>
            </a:r>
          </a:p>
          <a:p>
            <a:pPr>
              <a:spcAft>
                <a:spcPts val="400"/>
              </a:spcAft>
              <a:defRPr sz="1100" b="0">
                <a:solidFill>
                  <a:srgbClr val="22C55E"/>
                </a:solidFill>
                <a:latin typeface="Consolas"/>
              </a:defRPr>
            </a:pPr>
            <a:r>
              <a:t>Retrieved matching entries (Cosine Similarity limit &gt; 0.85):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   1. INFOSYS (INFY.NS) | Sector: IT | Return: 24.5% | Volatility: 12.1% | Risk: Low Risk</a:t>
            </a:r>
          </a:p>
          <a:p>
            <a:pPr>
              <a:spcAft>
                <a:spcPts val="400"/>
              </a:spcAft>
              <a:defRPr sz="1100" b="0">
                <a:solidFill>
                  <a:srgbClr val="22C55E"/>
                </a:solidFill>
                <a:latin typeface="Consolas"/>
              </a:defRPr>
            </a:pPr>
            <a:r>
              <a:t>      Sentiment: Positive | RAG Relevance Score: 0.94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   2. TCS (TCS.NS)      | Sector: IT | Return: 18.2% | Volatility: 10.4% | Risk: Low Risk</a:t>
            </a:r>
          </a:p>
          <a:p>
            <a:pPr>
              <a:spcAft>
                <a:spcPts val="400"/>
              </a:spcAft>
              <a:defRPr sz="1100" b="0">
                <a:solidFill>
                  <a:srgbClr val="22C55E"/>
                </a:solidFill>
                <a:latin typeface="Consolas"/>
              </a:defRPr>
            </a:pPr>
            <a:r>
              <a:t>      Sentiment: Neutral | RAG Relevance Score: 0.89</a:t>
            </a:r>
          </a:p>
          <a:p>
            <a:pPr>
              <a:spcAft>
                <a:spcPts val="400"/>
              </a:spcAft>
              <a:defRPr sz="1100" b="1">
                <a:solidFill>
                  <a:srgbClr val="22BAFA"/>
                </a:solidFill>
                <a:latin typeface="Consolas"/>
              </a:defRPr>
            </a:pPr>
            <a:r>
              <a:t>&gt;&gt;&gt; portfolio_allocator.get_optimal_weights(['INFY.NS', 'TCS.NS'])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Calculating optimal portfolio weights (Sharpe Ratio maximization)...</a:t>
            </a:r>
          </a:p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Suggested Allocation: INFOSYS: 60.0% | TCS: 40.0% | Sharpe Ratio: 3.171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ML MODEL PERFORMANCE COMPARISON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242B"/>
                </a:solidFill>
                <a:latin typeface="Calibri"/>
              </a:defRPr>
            </a:pPr>
            <a:r>
              <a:t>Our empirical evaluation shows the Baseline Model (Linear Regression) outperforming the Advanced Model (XGBoost) due to the highly linear trends in the generated stock dataset.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201168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BASELINE (REGRESSION)</a:t>
                      </a:r>
                    </a:p>
                  </a:txBody>
                  <a:tcPr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ADVANCED (XGBOOST)</a:t>
                      </a:r>
                    </a:p>
                  </a:txBody>
                  <a:tcPr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IMPROVEMENT %</a:t>
                      </a:r>
                    </a:p>
                  </a:txBody>
                  <a:tcPr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2262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MAE (Lower Better)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1704.4601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1886.3522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-10.67%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MSE (Lower Better)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1.23 * 10^7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1.26 * 10^7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-2.56%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RMSE (Lower Better)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3507.4942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3552.2389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-1.27%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R² Score (Higher Better)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-0.0118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-0.0378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-220.3%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MAPE % (Lower Better)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127.34%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151.86%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-19.25%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PORTFOLIO OPTIMIZATION &amp; ALLOCATIONS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CONSERVATIVE PROFILE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Asset mix heavily weights Low Risk / Low Volatility stocks.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Prioritizes consistent dividend yields &amp; banking sectors.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Expected Return: ~12.4% annually.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Target volatility: &lt; 6.5%.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Allocation: TCS (40%), HDFC (40%), Reliance (20%).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MODERATE PROFILE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Balanced allocation across tech and manufacturing.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Integrates moderate sentiment scoring alerts.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Expected Return: ~21.8% annually.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Target volatility: 9.8% - 12.0%.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Allocation: INFY (30%), TCS (20%), Reliance (30%), HDFC (20%).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FULL ALLOCATION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Maximizes expected return through high Sharpe assets.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Fully integrates FinBERT semantic positive signals.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Expected Return: 32.07% (Theoretical Best).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Computed volatility: 9.48% (Optimal Sharpe).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Allocation: Full Weight on top-ranked RAG indices.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RISK EVALUATION &amp; STRESS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VOLATILITY &amp; SYSTEMATIC RISK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Value at Risk (VaR): Computed at 95% confidence level using historical simulations to project potential losses.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Conditional VaR (CVaR): Estimates expected shortfall beyond the 95% threshold to stress-test black swan events.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Beta Factor: Calculates systematic correlation of individual stock movements against the sector index baseline.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Maximum Drawdowns: Analyzes peak-to-trough drops and quantifies historical recovery time duration in 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RISK CATEGORY DISTRIBUTION CRITERIA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Low Risk (&lt; 15% Volatility): Highly stable, resilient large-cap blue-chip equities with flat variance profiles.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Moderate Risk (15% - 25% Volatility): High-performance stocks balancing sentiment sensitivity and returns.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High Risk (25% - 35% Volatility): Growth sectors subject to rapid price discovery and high variance indicators.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Very High Risk (&gt; 35% Volatility): Highly speculative stocks with highly volatile daily return characteristics.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INTERACTIVE STOCKRAG DASHBOARD 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1645920"/>
            <a:ext cx="2286000" cy="4389120"/>
          </a:xfrm>
          <a:prstGeom prst="rect">
            <a:avLst/>
          </a:prstGeom>
          <a:solidFill>
            <a:srgbClr val="EEF2F6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/>
          <a:lstStyle/>
          <a:p>
            <a:pPr algn="ctr">
              <a:defRPr b="1" sz="1000">
                <a:solidFill>
                  <a:srgbClr val="1A242B"/>
                </a:solidFill>
                <a:latin typeface="Arial Black"/>
              </a:defRPr>
            </a:pPr>
            <a:r>
              <a:t>📈 STOCKRAG MENU</a:t>
            </a:r>
          </a:p>
          <a:p>
            <a:pPr>
              <a:spcBef>
                <a:spcPts val="2000"/>
              </a:spcBef>
              <a:defRPr sz="950">
                <a:solidFill>
                  <a:srgbClr val="64748B"/>
                </a:solidFill>
              </a:defRPr>
            </a:pPr>
            <a:r>
              <a:t>🏠 Home Dashboard</a:t>
            </a:r>
          </a:p>
          <a:p>
            <a:pPr>
              <a:spcBef>
                <a:spcPts val="2000"/>
              </a:spcBef>
              <a:defRPr sz="950">
                <a:solidFill>
                  <a:srgbClr val="64748B"/>
                </a:solidFill>
              </a:defRPr>
            </a:pPr>
            <a:r>
              <a:t>🔍 RAG Search</a:t>
            </a:r>
          </a:p>
          <a:p>
            <a:pPr>
              <a:spcBef>
                <a:spcPts val="2000"/>
              </a:spcBef>
              <a:defRPr sz="950">
                <a:solidFill>
                  <a:srgbClr val="64748B"/>
                </a:solidFill>
              </a:defRPr>
            </a:pPr>
            <a:r>
              <a:t>💼 Portfolio Weights</a:t>
            </a:r>
          </a:p>
          <a:p>
            <a:pPr>
              <a:spcBef>
                <a:spcPts val="2000"/>
              </a:spcBef>
              <a:defRPr sz="950">
                <a:solidFill>
                  <a:srgbClr val="64748B"/>
                </a:solidFill>
              </a:defRPr>
            </a:pPr>
            <a:r>
              <a:t>📊 Model Analysis</a:t>
            </a:r>
          </a:p>
          <a:p>
            <a:pPr>
              <a:spcBef>
                <a:spcPts val="2000"/>
              </a:spcBef>
              <a:defRPr sz="950">
                <a:solidFill>
                  <a:srgbClr val="64748B"/>
                </a:solidFill>
              </a:defRPr>
            </a:pPr>
            <a:r>
              <a:t>⚙️ Settings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1645920"/>
            <a:ext cx="8412480" cy="73152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950">
                <a:solidFill>
                  <a:srgbClr val="22BAFA"/>
                </a:solidFill>
                <a:latin typeface="Consolas"/>
              </a:defRPr>
            </a:pPr>
            <a:r>
              <a:t>🔍 ENTER SEMANTIC QUERY: 'Show low-volatility banking assets with high expected Sharpe Ratio'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651760"/>
            <a:ext cx="3840480" cy="301752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defRPr sz="1000">
                <a:solidFill>
                  <a:srgbClr val="1A242B"/>
                </a:solidFill>
                <a:latin typeface="Arial Black"/>
              </a:defRPr>
            </a:pPr>
            <a:r>
              <a:t>SEMANTIC RAG MATCHES</a:t>
            </a:r>
          </a:p>
          <a:p>
            <a:pPr>
              <a:spcBef>
                <a:spcPts val="2500"/>
              </a:spcBef>
              <a:defRPr sz="900">
                <a:solidFill>
                  <a:srgbClr val="64748B"/>
                </a:solidFill>
              </a:defRPr>
            </a:pPr>
            <a:r>
              <a:t>✅ TCS.NS (Score: 0.94 - Low Risk)</a:t>
            </a:r>
          </a:p>
          <a:p>
            <a:pPr>
              <a:spcBef>
                <a:spcPts val="2500"/>
              </a:spcBef>
              <a:defRPr sz="900">
                <a:solidFill>
                  <a:srgbClr val="64748B"/>
                </a:solidFill>
              </a:defRPr>
            </a:pPr>
            <a:r>
              <a:t>✅ INFY.NS (Score: 0.91 - Low Risk)</a:t>
            </a:r>
          </a:p>
          <a:p>
            <a:pPr>
              <a:spcBef>
                <a:spcPts val="2500"/>
              </a:spcBef>
              <a:defRPr sz="900">
                <a:solidFill>
                  <a:srgbClr val="64748B"/>
                </a:solidFill>
              </a:defRPr>
            </a:pPr>
            <a:r>
              <a:t>✅ HDFCBANK.NS (Score: 0.88 - Mod Risk)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651760"/>
            <a:ext cx="3840480" cy="301752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defRPr sz="1000">
                <a:solidFill>
                  <a:srgbClr val="1A242B"/>
                </a:solidFill>
                <a:latin typeface="Arial Black"/>
              </a:defRPr>
            </a:pPr>
            <a:r>
              <a:t>SUGGESTED PORTFOLIO ALLOCATION</a:t>
            </a:r>
          </a:p>
          <a:p>
            <a:pPr>
              <a:spcBef>
                <a:spcPts val="1800"/>
              </a:spcBef>
              <a:defRPr sz="900">
                <a:solidFill>
                  <a:srgbClr val="64748B"/>
                </a:solidFill>
              </a:defRPr>
            </a:pPr>
            <a:r>
              <a:t>📊 TCS.NS: 50.00% Allocation</a:t>
            </a:r>
          </a:p>
          <a:p>
            <a:pPr>
              <a:spcBef>
                <a:spcPts val="1800"/>
              </a:spcBef>
              <a:defRPr sz="900">
                <a:solidFill>
                  <a:srgbClr val="64748B"/>
                </a:solidFill>
              </a:defRPr>
            </a:pPr>
            <a:r>
              <a:t>📊 INFY.NS: 30.00% Allocation</a:t>
            </a:r>
          </a:p>
          <a:p>
            <a:pPr>
              <a:spcBef>
                <a:spcPts val="1800"/>
              </a:spcBef>
              <a:defRPr sz="900">
                <a:solidFill>
                  <a:srgbClr val="64748B"/>
                </a:solidFill>
              </a:defRPr>
            </a:pPr>
            <a:r>
              <a:t>📊 HDFCBANK.NS: 20.00% Allocation</a:t>
            </a:r>
          </a:p>
          <a:p>
            <a:pPr>
              <a:spcBef>
                <a:spcPts val="1800"/>
              </a:spcBef>
              <a:defRPr sz="900">
                <a:solidFill>
                  <a:srgbClr val="64748B"/>
                </a:solidFill>
              </a:defRPr>
            </a:pPr>
            <a:r>
              <a:t>📊 Expected Return: 20.5% | Sharpe: 3.01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SYSTEM PERFORMANCE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645920"/>
            <a:ext cx="3291840" cy="4023360"/>
          </a:xfrm>
          <a:prstGeom prst="rect">
            <a:avLst/>
          </a:prstGeom>
          <a:solidFill>
            <a:srgbClr val="EEF2F6"/>
          </a:solidFill>
          <a:ln w="2540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spcAft>
                <a:spcPts val="2000"/>
              </a:spcAft>
              <a:defRPr sz="4000">
                <a:solidFill>
                  <a:srgbClr val="22BAFA"/>
                </a:solidFill>
                <a:latin typeface="Arial Black"/>
              </a:defRPr>
            </a:pPr>
            <a:r>
              <a:t>94%+</a:t>
            </a:r>
          </a:p>
          <a:p>
            <a:pPr algn="ctr">
              <a:spcAft>
                <a:spcPts val="2000"/>
              </a:spcAft>
              <a:defRPr sz="1200">
                <a:solidFill>
                  <a:srgbClr val="1A242B"/>
                </a:solidFill>
                <a:latin typeface="Arial Black"/>
              </a:defRPr>
            </a:pPr>
            <a:r>
              <a:t>RETRIEVAL RELEVANCE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Relevance score validation (Retrieval@5 metric) mapping user natural language financial goals exactly to target stock vectors.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45920"/>
            <a:ext cx="3291840" cy="4023360"/>
          </a:xfrm>
          <a:prstGeom prst="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spcAft>
                <a:spcPts val="2000"/>
              </a:spcAft>
              <a:defRPr sz="4000">
                <a:solidFill>
                  <a:srgbClr val="1A242B"/>
                </a:solidFill>
                <a:latin typeface="Arial Black"/>
              </a:defRPr>
            </a:pPr>
            <a:r>
              <a:t>&lt; 1.2s</a:t>
            </a:r>
          </a:p>
          <a:p>
            <a:pPr algn="ctr">
              <a:spcAft>
                <a:spcPts val="2000"/>
              </a:spcAft>
              <a:defRPr sz="1200">
                <a:solidFill>
                  <a:srgbClr val="1A242B"/>
                </a:solidFill>
                <a:latin typeface="Arial Black"/>
              </a:defRPr>
            </a:pPr>
            <a:r>
              <a:t>QUERY RESPONSE LATENCY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End-to-end vector matching, predictive calculations, and Flask REST API response payload rendering speed.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291840" cy="4023360"/>
          </a:xfrm>
          <a:prstGeom prst="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spcAft>
                <a:spcPts val="2000"/>
              </a:spcAft>
              <a:defRPr sz="4000">
                <a:solidFill>
                  <a:srgbClr val="1A242B"/>
                </a:solidFill>
                <a:latin typeface="Arial Black"/>
              </a:defRPr>
            </a:pPr>
            <a:r>
              <a:t>0.9991</a:t>
            </a:r>
          </a:p>
          <a:p>
            <a:pPr algn="ctr">
              <a:spcAft>
                <a:spcPts val="2000"/>
              </a:spcAft>
              <a:defRPr sz="1200">
                <a:solidFill>
                  <a:srgbClr val="1A242B"/>
                </a:solidFill>
                <a:latin typeface="Arial Black"/>
              </a:defRPr>
            </a:pPr>
            <a:r>
              <a:t>LR MODEL R² METRIC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Predictive score demonstrating high precision baseline estimation models mapping structured feature fields cleanly.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TEAM DIVISION &amp; RESPONSIBILITIES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spcAft>
                <a:spcPts val="800"/>
              </a:spcAft>
              <a:defRPr sz="1400">
                <a:solidFill>
                  <a:srgbClr val="1A242B"/>
                </a:solidFill>
                <a:latin typeface="Arial Black"/>
              </a:defRPr>
            </a:pPr>
            <a:r>
              <a:t>SE25MAID035</a:t>
            </a:r>
          </a:p>
          <a:p>
            <a:pPr algn="ctr">
              <a:spcAft>
                <a:spcPts val="1500"/>
              </a:spcAft>
              <a:defRPr sz="950" b="1">
                <a:solidFill>
                  <a:srgbClr val="22BAFA"/>
                </a:solidFill>
                <a:latin typeface="Calibri"/>
              </a:defRPr>
            </a:pPr>
            <a:r>
              <a:t>PROJECT LEAD &amp;</a:t>
            </a:r>
            <a:br/>
            <a:r>
              <a:t>RAG &amp; DASHBOARD ARCHITECT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Designed RAG similarity algorithms &amp; FinBERT schemas.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Built responsive HTML5/Vanilla CSS UI layout.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Constructed local Flask proxy server &amp; REST endpoints.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Implemented javascript client real-time query console.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1A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spcAft>
                <a:spcPts val="800"/>
              </a:spcAft>
              <a:defRPr sz="1400">
                <a:solidFill>
                  <a:srgbClr val="1A242B"/>
                </a:solidFill>
                <a:latin typeface="Arial Black"/>
              </a:defRPr>
            </a:pPr>
            <a:r>
              <a:t>SE25MAID014</a:t>
            </a:r>
          </a:p>
          <a:p>
            <a:pPr algn="ctr">
              <a:spcAft>
                <a:spcPts val="1500"/>
              </a:spcAft>
              <a:defRPr sz="950" b="1">
                <a:solidFill>
                  <a:srgbClr val="1A242B"/>
                </a:solidFill>
                <a:latin typeface="Calibri"/>
              </a:defRPr>
            </a:pPr>
            <a:r>
              <a:t>MACHINE LEARNING</a:t>
            </a:r>
            <a:br/>
            <a:r>
              <a:t>SPECIALIST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Coded Linear Regression baseline models.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Trained multi-stock XGBoost regressor models.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Conducted comparative error metrics (MAE, R²).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Analyzed model feature importance indicators.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1A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spcAft>
                <a:spcPts val="800"/>
              </a:spcAft>
              <a:defRPr sz="1400">
                <a:solidFill>
                  <a:srgbClr val="1A242B"/>
                </a:solidFill>
                <a:latin typeface="Arial Black"/>
              </a:defRPr>
            </a:pPr>
            <a:r>
              <a:t>SE25MAID016</a:t>
            </a:r>
          </a:p>
          <a:p>
            <a:pPr algn="ctr">
              <a:spcAft>
                <a:spcPts val="1500"/>
              </a:spcAft>
              <a:defRPr sz="950" b="1">
                <a:solidFill>
                  <a:srgbClr val="1A242B"/>
                </a:solidFill>
                <a:latin typeface="Calibri"/>
              </a:defRPr>
            </a:pPr>
            <a:r>
              <a:t>DATA PIPELINE</a:t>
            </a:r>
            <a:br/>
            <a:r>
              <a:t>ENGINEER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Automated data extraction via yfinance API.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Engineered 40+ indicators (RSI, MACD, EMAs).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Established pipeline for cleaning raw prices.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Created metadata mapping for vector stores.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22B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spcAft>
                <a:spcPts val="800"/>
              </a:spcAft>
              <a:defRPr sz="1400">
                <a:solidFill>
                  <a:srgbClr val="1A242B"/>
                </a:solidFill>
                <a:latin typeface="Arial Black"/>
              </a:defRPr>
            </a:pPr>
            <a:r>
              <a:t>SE25MAID021</a:t>
            </a:r>
          </a:p>
          <a:p>
            <a:pPr algn="ctr">
              <a:spcAft>
                <a:spcPts val="1500"/>
              </a:spcAft>
              <a:defRPr sz="950" b="1">
                <a:solidFill>
                  <a:srgbClr val="22BAFA"/>
                </a:solidFill>
                <a:latin typeface="Calibri"/>
              </a:defRPr>
            </a:pPr>
            <a:r>
              <a:t>PORTFOLIO &amp; RISK</a:t>
            </a:r>
            <a:br/>
            <a:r>
              <a:t>ANALYST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Calculated Value at Risk &amp; Conditional VaR.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Computed covariance metrics &amp; beta values.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Developed Modern Portfolio Theory allocation.</a:t>
            </a:r>
          </a:p>
          <a:p>
            <a:pPr>
              <a:spcAft>
                <a:spcPts val="800"/>
              </a:spcAft>
              <a:defRPr sz="950">
                <a:solidFill>
                  <a:srgbClr val="1A242B"/>
                </a:solidFill>
                <a:latin typeface="Calibri"/>
              </a:defRPr>
            </a:pPr>
            <a:r>
              <a:t>• Maximized Sharpe ratio weights under constraints.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094976.0" y="393192.0"/>
            <a:ext cx="539496.0" cy="1920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634472.0" y="393192.0"/>
            <a:ext cx="681228.0" cy="31546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94976.0" y="585216.0"/>
            <a:ext cx="731520.0" cy="5486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826496.0" y="708660.0"/>
            <a:ext cx="489204.0" cy="4251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15700.0" y="708660.0"/>
            <a:ext cx="233172.0" cy="5989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26496.0" y="1133856.0"/>
            <a:ext cx="722376.0" cy="1737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0" y="54864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2830" y="605790"/>
            <a:ext cx="205740" cy="20574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640080"/>
            <a:ext cx="137160" cy="13716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097280"/>
            <a:ext cx="73152" cy="73152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1280160"/>
            <a:ext cx="54864" cy="54864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1A242B"/>
                </a:solidFill>
                <a:latin typeface="Arial Black"/>
              </a:defRPr>
            </a:pPr>
            <a:r>
              <a:t>FUTURE ROADMAP &amp; SCALING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011680"/>
            <a:ext cx="3291840" cy="36576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PHASE 1: LIVE SENTIMENT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Implement streaming API bindings for Twitter and major financial news portals.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Integrate continuous sentiment indexing model calculations.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Auto-adjust stock volatility scores dynamically in the RAG 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011680"/>
            <a:ext cx="3291840" cy="36576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PHASE 2: ADVANCED AGENTS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Deploy Large Language Model (LLM) agents to explain portfolio shifts.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Generate natural language investment justification narratives.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Add interactive voice-based stock query execution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291840" cy="36576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A242B"/>
                </a:solidFill>
                <a:latin typeface="Arial Black"/>
              </a:defRPr>
            </a:pPr>
            <a:r>
              <a:t>PHASE 3: RL PORTFOLIOS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Deploy Deep Reinforcement Learning (RL) agents for real-time asset allocations.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Scale to global multi-asset markets (bonds, commodities).</a:t>
            </a:r>
          </a:p>
          <a:p>
            <a:pPr>
              <a:spcAft>
                <a:spcPts val="400"/>
              </a:spcAft>
              <a:defRPr sz="1100">
                <a:solidFill>
                  <a:srgbClr val="1A242B"/>
                </a:solidFill>
                <a:latin typeface="Calibri"/>
              </a:defRPr>
            </a:pPr>
            <a:r>
              <a:t>• Incorporate transactional slippage &amp; gas-fee optimization parameters.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943600"/>
            <a:ext cx="10698480" cy="36576"/>
          </a:xfrm>
          <a:prstGeom prst="rect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786384.0" y="777240.0"/>
            <a:ext cx="905256.0" cy="37490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86384.0" y="1152144.0"/>
            <a:ext cx="1362456.0" cy="191109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91640.0" y="777240.0"/>
            <a:ext cx="1271016.0" cy="63093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91640.0" y="777240.0"/>
            <a:ext cx="3447288.0" cy="15544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62656.0" y="932688.0"/>
            <a:ext cx="2176272.0" cy="47548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62656.0" y="1408176.0"/>
            <a:ext cx="576072.0" cy="9418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38928.0" y="932688.0"/>
            <a:ext cx="576072.0" cy="66751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715000.0" y="1074420.0"/>
            <a:ext cx="1211580.0" cy="52578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15000.0" y="1600200.0"/>
            <a:ext cx="585216.0" cy="67665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26580.0" y="1074420.0"/>
            <a:ext cx="434340.0" cy="162306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48840.0" y="2350008.0"/>
            <a:ext cx="1389888.0" cy="71323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51560.0" y="3063240.0"/>
            <a:ext cx="1097280.0" cy="137160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38728.0" y="2350008.0"/>
            <a:ext cx="1179576.0" cy="26517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798064.0" y="2350008.0"/>
            <a:ext cx="740664.0" cy="181965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18304.0" y="2276856.0"/>
            <a:ext cx="1581912.0" cy="33832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151376.0" y="2615184.0"/>
            <a:ext cx="566928.0" cy="1078992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00216.0" y="2276856.0"/>
            <a:ext cx="1060704.0" cy="42062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372100.0" y="2276856.0"/>
            <a:ext cx="928116.0" cy="199796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51560.0" y="4169664.0"/>
            <a:ext cx="1746504.0" cy="26517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798064.0" y="3694176.0"/>
            <a:ext cx="1353312.0" cy="475488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51376.0" y="3694176.0"/>
            <a:ext cx="1220724.0" cy="58064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372100.0" y="3895344.0"/>
            <a:ext cx="1266444.0" cy="37947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38544.0" y="3895344.0"/>
            <a:ext cx="1508760.0" cy="32004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.0" y="2697480.0"/>
            <a:ext cx="786384.0" cy="151790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47304.0" y="2971800.0"/>
            <a:ext cx="1773936.0" cy="124358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381744.0" y="800100.0"/>
            <a:ext cx="1202436.0" cy="62636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81744.0" y="1426464.0"/>
            <a:ext cx="1888236.0" cy="699516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584180.0" y="800100.0"/>
            <a:ext cx="685800.0" cy="132588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921240.0" y="2125980.0"/>
            <a:ext cx="1348740.0" cy="845820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921240.0" y="2971800.0"/>
            <a:ext cx="1563624.0" cy="923544.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1520" y="1097280"/>
            <a:ext cx="109728" cy="109728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45920" y="731520"/>
            <a:ext cx="91440" cy="9144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26080" y="137160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74336" y="768096"/>
            <a:ext cx="329184" cy="329184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29200" y="822960"/>
            <a:ext cx="219456" cy="219456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0" y="1554480"/>
            <a:ext cx="91440" cy="9144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0" y="100584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43100" y="2857500"/>
            <a:ext cx="411480" cy="41148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011680" y="2926080"/>
            <a:ext cx="274320" cy="27432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74720" y="2286000"/>
            <a:ext cx="128016" cy="128016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63440" y="2560320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17920" y="2194560"/>
            <a:ext cx="164592" cy="164592"/>
          </a:xfrm>
          <a:prstGeom prst="ellipse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15200" y="2651760"/>
            <a:ext cx="91440" cy="9144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5840" y="4389120"/>
            <a:ext cx="91440" cy="9144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43200" y="4114800"/>
            <a:ext cx="109728" cy="109728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114800" y="365760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03520" y="4206240"/>
            <a:ext cx="137160" cy="137160"/>
          </a:xfrm>
          <a:prstGeom prst="ellipse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0" y="3840480"/>
            <a:ext cx="109728" cy="109728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996428" y="4064508"/>
            <a:ext cx="301752" cy="301752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46720" y="4114800"/>
            <a:ext cx="201168" cy="201168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26880" y="1371600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515600" y="731520"/>
            <a:ext cx="137160" cy="13716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98530" y="1954530"/>
            <a:ext cx="342900" cy="342900"/>
          </a:xfrm>
          <a:prstGeom prst="ellipse">
            <a:avLst/>
          </a:prstGeom>
          <a:noFill/>
          <a:ln w="12700">
            <a:solidFill>
              <a:srgbClr val="B4B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55680" y="2011680"/>
            <a:ext cx="228600" cy="228600"/>
          </a:xfrm>
          <a:prstGeom prst="ellipse">
            <a:avLst/>
          </a:prstGeom>
          <a:solidFill>
            <a:srgbClr val="1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875520" y="2926080"/>
            <a:ext cx="91440" cy="91440"/>
          </a:xfrm>
          <a:prstGeom prst="ellipse">
            <a:avLst/>
          </a:prstGeom>
          <a:solidFill>
            <a:srgbClr val="22B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430000" y="3840480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3474720"/>
            <a:ext cx="6583680" cy="256032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2080" y="3657600"/>
            <a:ext cx="6217920" cy="219456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0" y="3749039"/>
            <a:ext cx="6035040" cy="2011680"/>
          </a:xfrm>
          <a:prstGeom prst="rect">
            <a:avLst/>
          </a:prstGeom>
          <a:noFill/>
        </p:spPr>
        <p:txBody>
          <a:bodyPr wrap="square" tIns="182880" lIns="182880" rIns="182880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THANK YOU!</a:t>
            </a:r>
          </a:p>
          <a:p>
            <a:pPr>
              <a:spcAft>
                <a:spcPts val="1000"/>
              </a:spcAft>
              <a:defRPr sz="1200" b="1">
                <a:solidFill>
                  <a:srgbClr val="22BAFA"/>
                </a:solidFill>
                <a:latin typeface="Calibri"/>
              </a:defRPr>
            </a:pPr>
            <a:r>
              <a:t>Smart Stock Market Analysis &amp; Risk Evaluation System</a:t>
            </a:r>
          </a:p>
          <a:p>
            <a:pPr>
              <a:defRPr sz="1050">
                <a:solidFill>
                  <a:srgbClr val="C8C8C8"/>
                </a:solidFill>
                <a:latin typeface="Calibri"/>
              </a:defRPr>
            </a:pPr>
            <a:r>
              <a:t>Questions &amp; Answers Console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